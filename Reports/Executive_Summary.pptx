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IT Consulting Predictive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8E4FF"/>
                </a:solidFill>
              </a:rPr>
              <a:t>Project Delivery  |  Resource Utilisation  |  Risk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D2F5"/>
                </a:solidFill>
              </a:rPr>
              <a:t>Run: 2026-03-20 16:49:54     Projects: 106     Seed: 1774005593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2976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8E1FF"/>
                </a:solidFill>
              </a:rPr>
              <a:t>Run: 2026-03-20 16:49:54  |  106 projects  |  22 clients  |  48 employees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22960"/>
            <a:ext cx="2011680" cy="1188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932688"/>
            <a:ext cx="201168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30.3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6276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6F0FF"/>
                </a:solidFill>
              </a:rPr>
              <a:t>Avg Delay (Days)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0592" y="822960"/>
            <a:ext cx="2011680" cy="1188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932688"/>
            <a:ext cx="201168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83.0%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2" y="16276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6F0FF"/>
                </a:solidFill>
              </a:rPr>
              <a:t>% Projects Overdue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72584" y="822960"/>
            <a:ext cx="201168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932688"/>
            <a:ext cx="201168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16276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6F0FF"/>
                </a:solidFill>
              </a:rPr>
              <a:t>Forecast Alerts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94576" y="822960"/>
            <a:ext cx="2011680" cy="118872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4576" y="932688"/>
            <a:ext cx="201168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6276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6F0FF"/>
                </a:solidFill>
              </a:rPr>
              <a:t>High-Risk Items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48840"/>
            <a:ext cx="2834640" cy="100584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2258568"/>
            <a:ext cx="283464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277063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6F0FF"/>
                </a:solidFill>
              </a:rPr>
              <a:t>Overdue Projects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82112" y="2148840"/>
            <a:ext cx="2834640" cy="10058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258568"/>
            <a:ext cx="283464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2112" y="277063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6F0FF"/>
                </a:solidFill>
              </a:rPr>
              <a:t>Open Risks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35624" y="2148840"/>
            <a:ext cx="2834640" cy="10058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35624" y="2258568"/>
            <a:ext cx="283464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5624" y="277063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6F0FF"/>
                </a:solidFill>
              </a:rPr>
              <a:t>Employees Monitored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32918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2C6"/>
                </a:solidFill>
              </a:rPr>
              <a:t>Top 5 Most Delayed Projects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611880"/>
            <a:ext cx="8686800" cy="29260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363016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Project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63016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Sector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63016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Project 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63016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Delay (Days)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63016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Forecast (Days)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904487"/>
            <a:ext cx="8686800" cy="31089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3931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9319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Logistics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39319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Maintenance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3931920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9534F"/>
                </a:solidFill>
              </a:rP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931920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63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4233672"/>
            <a:ext cx="8686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" y="42611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4261104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42611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ERP Implementation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426110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9534F"/>
                </a:solidFill>
              </a:rPr>
              <a:t>59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426110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56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4562855"/>
            <a:ext cx="8686800" cy="31089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8600" y="45902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29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459028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45902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ERP Implementation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4590288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9534F"/>
                </a:solidFill>
              </a:rPr>
              <a:t>59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4590288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56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4892040"/>
            <a:ext cx="8686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8600" y="4919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41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" y="491947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Energy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26080" y="49194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ERP Implementation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52160" y="4919472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9534F"/>
                </a:solidFill>
              </a:rPr>
              <a:t>59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4919472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61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5221223"/>
            <a:ext cx="8686800" cy="31089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8600" y="524865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46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71600" y="5248655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Logistics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26080" y="5248655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Cloud Adoption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52160" y="5248655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9534F"/>
                </a:solidFill>
              </a:rPr>
              <a:t>59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60" y="5248655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57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Sector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2976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8E1FF"/>
                </a:solidFill>
              </a:rPr>
              <a:t>Average delay and overdue % by sector -- live from this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229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2C6"/>
                </a:solidFill>
              </a:rPr>
              <a:t>Average Delay by Sector (days)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18872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BFSI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225296"/>
            <a:ext cx="5943600" cy="23774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</a:rPr>
              <a:t>39.6 d  (16 projects)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62763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664208"/>
            <a:ext cx="5435156" cy="23774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2516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</a:rPr>
              <a:t>36.2 d  (17 projects)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066543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Auto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2103120"/>
            <a:ext cx="4661420" cy="23774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8780" y="206654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</a:rPr>
              <a:t>31.1 d  (13 projects)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250545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Energy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2542032"/>
            <a:ext cx="4299891" cy="23774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7251" y="25054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</a:rPr>
              <a:t>28.7 d  (15 projects)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2944368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Finance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2980944"/>
            <a:ext cx="4184894" cy="23774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22254" y="2944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</a:rPr>
              <a:t>27.9 d  (10 projects)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3383279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Logistics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3419856"/>
            <a:ext cx="4132395" cy="23774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69755" y="33832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</a:rPr>
              <a:t>27.6 d  (20 projects)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3822191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Transportation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3858768"/>
            <a:ext cx="3039923" cy="23774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7283" y="38221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</a:rPr>
              <a:t>20.3 d  (15 projects)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5852160"/>
            <a:ext cx="8686800" cy="6400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925312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534F"/>
                </a:solidFill>
              </a:rPr>
              <a:t>Most delayed sector this run: BFSI  --  39.6 day avg delay  (16 projects)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Project Type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2976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8E1FF"/>
                </a:solidFill>
              </a:rPr>
              <a:t>Actual vs forecast delay by project type -- live from this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229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6464"/>
                </a:solidFill>
              </a:rPr>
              <a:t>Avg Delay (days):  Blue = Actual     Orange =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188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Custom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197864"/>
            <a:ext cx="4455994" cy="1828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4834" y="11887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072C6"/>
                </a:solidFill>
              </a:rPr>
              <a:t>32.6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417320"/>
            <a:ext cx="5029200" cy="1828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4173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E87722"/>
                </a:solidFill>
              </a:rPr>
              <a:t>36.9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188720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69696"/>
                </a:solidFill>
              </a:rPr>
              <a:t>n=20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1783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Cloud Adoption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792224"/>
            <a:ext cx="4168253" cy="1828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7093" y="17830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072C6"/>
                </a:solidFill>
              </a:rPr>
              <a:t>30.5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2011680"/>
            <a:ext cx="4378656" cy="1828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7496" y="201168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E87722"/>
                </a:solidFill>
              </a:rPr>
              <a:t>32.1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69696"/>
                </a:solidFill>
              </a:rPr>
              <a:t>n=24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2377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ERP Implementation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2386584"/>
            <a:ext cx="4149930" cy="1828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8770" y="237744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072C6"/>
                </a:solidFill>
              </a:rPr>
              <a:t>30.4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606040"/>
            <a:ext cx="4235860" cy="1828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4700" y="260604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E87722"/>
                </a:solidFill>
              </a:rPr>
              <a:t>31.0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377440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69696"/>
                </a:solidFill>
              </a:rPr>
              <a:t>n=27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2971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Migration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2980944"/>
            <a:ext cx="4053385" cy="1828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2225" y="29718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072C6"/>
                </a:solidFill>
              </a:rPr>
              <a:t>29.7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3200400"/>
            <a:ext cx="4524232" cy="1828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3072" y="3200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E87722"/>
                </a:solidFill>
              </a:rPr>
              <a:t>33.1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971800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69696"/>
                </a:solidFill>
              </a:rPr>
              <a:t>n=20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35661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Maintenance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3575303"/>
            <a:ext cx="3794077" cy="1828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2917" y="35661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072C6"/>
                </a:solidFill>
              </a:rPr>
              <a:t>27.8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3794760"/>
            <a:ext cx="4203510" cy="1828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2350" y="37947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E87722"/>
                </a:solidFill>
              </a:rPr>
              <a:t>30.8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566160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69696"/>
                </a:solidFill>
              </a:rPr>
              <a:t>n=15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5852160"/>
            <a:ext cx="8686800" cy="6400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925312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534F"/>
                </a:solidFill>
              </a:rPr>
              <a:t>Highest delay type: Custom Development  --  actual 32.6d  /  forecast 36.9d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Risk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2976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8E1FF"/>
                </a:solidFill>
              </a:rPr>
              <a:t>Risk distribution from this run  --  live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22960"/>
            <a:ext cx="2743200" cy="10972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932688"/>
            <a:ext cx="2743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5361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6F0FF"/>
                </a:solidFill>
              </a:rPr>
              <a:t>Total Risks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822960"/>
            <a:ext cx="2743200" cy="109728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932688"/>
            <a:ext cx="2743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5361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6F0FF"/>
                </a:solidFill>
              </a:rPr>
              <a:t>High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822960"/>
            <a:ext cx="2743200" cy="10972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932688"/>
            <a:ext cx="2743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5361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6F0FF"/>
                </a:solidFill>
              </a:rPr>
              <a:t>Open (Unresolved)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21031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2C6"/>
                </a:solidFill>
              </a:rPr>
              <a:t>Risk Count by Impact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25146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2551176"/>
            <a:ext cx="4761781" cy="23774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6261" y="25146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9534F"/>
                </a:solidFill>
              </a:rPr>
              <a:t>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2990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Medium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8760" y="3026664"/>
            <a:ext cx="4658264" cy="23774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2744" y="2990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7722"/>
                </a:solidFill>
              </a:rPr>
              <a:t>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34655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3502152"/>
            <a:ext cx="5486400" cy="237744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346557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B85C"/>
                </a:solidFill>
              </a:rPr>
              <a:t>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42062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2C6"/>
                </a:solidFill>
              </a:rPr>
              <a:t>Risk Count by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46177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Closed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4654296"/>
            <a:ext cx="5486400" cy="237744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4617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B85C"/>
                </a:solidFill>
              </a:rPr>
              <a:t>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5056631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Open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5093207"/>
            <a:ext cx="4572000" cy="237744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5056631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9534F"/>
                </a:solidFill>
              </a:rPr>
              <a:t>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54955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Mitigated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08760" y="5532120"/>
            <a:ext cx="3108960" cy="23774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549554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7722"/>
                </a:solidFill>
              </a:rPr>
              <a:t>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8686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Key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2976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8E1FF"/>
                </a:solidFill>
              </a:rPr>
              <a:t>Auto-generated from this run's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686800" cy="804672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868680"/>
            <a:ext cx="1234440" cy="804672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69848"/>
            <a:ext cx="1170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960120"/>
            <a:ext cx="7269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69 projects forecast to breach SLA. Escalate to PMO immediately. Assign dedicated Project Managers.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801368"/>
            <a:ext cx="8686800" cy="804672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801368"/>
            <a:ext cx="1234440" cy="8046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2002536"/>
            <a:ext cx="1170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892807"/>
            <a:ext cx="7269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50 risks are still open. The BFSI sector has the highest average delay this run (30.3 d days). Introduce weekly milestone check-ins.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734056"/>
            <a:ext cx="8686800" cy="80467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734056"/>
            <a:ext cx="1234440" cy="804672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935224"/>
            <a:ext cx="1170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2825496"/>
            <a:ext cx="7269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88 projects are overdue (&gt;10 days late). Custom Development projects are the most delayed type. Standardise delivery milestones for this project type.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666744"/>
            <a:ext cx="8686800" cy="804672"/>
          </a:xfrm>
          <a:prstGeom prst="rect">
            <a:avLst/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3666744"/>
            <a:ext cx="1234440" cy="804672"/>
          </a:xfrm>
          <a:prstGeom prst="rect">
            <a:avLst/>
          </a:prstGeom>
          <a:solidFill>
            <a:srgbClr val="82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3867911"/>
            <a:ext cx="1170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RESOURCE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3758183"/>
            <a:ext cx="7269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Review employee utilisation dashboard. Overloaded employees (&gt;120% utilisation) directly correlate with project delays. Redistribute workloads before next sprint.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599431"/>
            <a:ext cx="8686800" cy="8046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4599431"/>
            <a:ext cx="1234440" cy="804672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4800599"/>
            <a:ext cx="117043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690871"/>
            <a:ext cx="7269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83.0% of projects are currently overdue. Schedule a weekly stakeholder review using the Power BI dashboard. Automate refresh via Power BI Service.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C8F0"/>
                </a:solidFill>
              </a:rPr>
              <a:t>Generated automatically by the IT Consulting Analytics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8A0D2"/>
                </a:solidFill>
              </a:rPr>
              <a:t>Run: 2026-03-20 16:49:54     Seed: 1774005593     Projects: 106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